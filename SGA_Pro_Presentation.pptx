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A2520"/>
          </a:solidFill>
          <a:ln w="12700">
            <a:solidFill>
              <a:srgbClr val="2A2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3228"/>
          </a:solidFill>
          <a:ln w="12700">
            <a:solidFill>
              <a:srgbClr val="3A3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926080"/>
            <a:ext cx="5029200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0" y="4572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4032" y="4572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1504" y="4572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08976" y="4572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6448" y="4572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4630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4032" y="14630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14630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8976" y="14630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4630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4688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24688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24688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08976" y="24688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6448" y="24688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4747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34747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34747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08976" y="34747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34747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0972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B8922A">
                    <a:alpha val="1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</a:t>
            </a:r>
            <a:endParaRPr lang="en-US" sz="11000" dirty="0"/>
          </a:p>
        </p:txBody>
      </p:sp>
      <p:sp>
        <p:nvSpPr>
          <p:cNvPr id="27" name="Text 25"/>
          <p:cNvSpPr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SYSTÈME DE GESTION ACADÉMIQUE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14173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0D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</a:t>
            </a:r>
            <a:pPr algn="l" indent="0" marL="0">
              <a:buNone/>
            </a:pPr>
            <a:r>
              <a:rPr lang="en-US" sz="7200" i="1" dirty="0">
                <a:solidFill>
                  <a:srgbClr val="B89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457200" y="2697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solution complète pour piloter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l'excellence académique africaine.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1097280" cy="34747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1.0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0" y="3931920"/>
            <a:ext cx="1280160" cy="347472"/>
          </a:xfrm>
          <a:prstGeom prst="rect">
            <a:avLst/>
          </a:prstGeom>
          <a:solidFill>
            <a:srgbClr val="2A2520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3931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—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CONFIDENTIEL · SGA PRO · TOUS DROITS RÉSERVÉS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A1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274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B8922A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SOMMAIRE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828800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502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658368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502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033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033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SGA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15636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719072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5636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&amp; Fonctionnalités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0939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249424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0939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technique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624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779776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6243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Paiements en ligne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3310128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154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Chiffres clés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36850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840480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685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42153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4370832"/>
            <a:ext cx="2286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42153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A2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9144000" cy="36576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PROBLÉMATIQUE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gestion académique africaine souffre encore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54864" cy="9144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📁  Dossiers papier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Archives perdues, classements impossibles, accès difficile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54864" cy="9144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💸  Paiements manuels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Caisse physique, pas de traçabilité, fraudes fréquentes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11480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06040"/>
            <a:ext cx="54864" cy="9144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 Aucune analytics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de vision globale, décisions à l'aveugle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606040"/>
            <a:ext cx="411480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606040"/>
            <a:ext cx="54864" cy="9144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🔗  Systèmes isolés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Présences, notes, paiements : 3 logiciels différents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11480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03320"/>
            <a:ext cx="54864" cy="9144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⏱  Lenteur admin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142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Bulletins, rapports, inscriptions — des semaines de travail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411480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703320"/>
            <a:ext cx="54864" cy="91440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🌍  Pas d'accès distant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142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Tout se fait sur place, aucune digitalisation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 Pro — Un écosystème académique complet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solidFill>
            <a:srgbClr val="1A1712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09728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 seule plateforme web pour gérer 100% de la vie académique 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étudiants · enseignants · notes · présences · paiements · concours · emploi du temps · rapports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97480"/>
            <a:ext cx="196596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Tout-en-un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modules intégrés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une interface unique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2697480"/>
            <a:ext cx="196596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78608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Accessible partout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3794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Web, mobile, tablette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 installation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08576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2697480"/>
            <a:ext cx="196596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00016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Sécurisé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0016" y="3794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Rôles &amp; permissions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 profil utilisateur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9984" y="269748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9984" y="2697480"/>
            <a:ext cx="196596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9984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21424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Paiements intégrés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21424" y="3794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Wave, Orange Money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Money, Carte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MODULES &amp;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modules fonctionnels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356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41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64792" y="132588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64792" y="132588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2" name="Text 10"/>
          <p:cNvSpPr/>
          <p:nvPr/>
        </p:nvSpPr>
        <p:spPr>
          <a:xfrm>
            <a:off x="1764792" y="14356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10512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étudiants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10512" y="2441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9544" y="132588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9544" y="132588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9544" y="14356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55264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Appel rapide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55264" y="2441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Présences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54296" y="132588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132588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14356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00016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Notes &amp; moyennes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0016" y="2441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Académique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99048" y="132588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9048" y="132588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48" y="14356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44768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Classes &amp; niveaux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2441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43800" y="132588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43800" y="132588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4356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Emploi du temps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2441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10896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10896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218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6576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Concours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224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Admission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64792" y="310896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764792" y="310896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2" name="Text 40"/>
          <p:cNvSpPr/>
          <p:nvPr/>
        </p:nvSpPr>
        <p:spPr>
          <a:xfrm>
            <a:off x="1764792" y="3218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1810512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Scolarité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10512" y="4224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9544" y="310896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9544" y="310896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9544" y="3218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3255264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Paiement online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55264" y="4224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Paytech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54296" y="310896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54296" y="310896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52" name="Text 50"/>
          <p:cNvSpPr/>
          <p:nvPr/>
        </p:nvSpPr>
        <p:spPr>
          <a:xfrm>
            <a:off x="4654296" y="3218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4700016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00016" y="4224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99048" y="310896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099048" y="310896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57" name="Text 55"/>
          <p:cNvSpPr/>
          <p:nvPr/>
        </p:nvSpPr>
        <p:spPr>
          <a:xfrm>
            <a:off x="6099048" y="3218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144768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Messagerie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44768" y="4224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543800" y="3108960"/>
            <a:ext cx="1325880" cy="16002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543800" y="3108960"/>
            <a:ext cx="1325880" cy="4572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62" name="Text 60"/>
          <p:cNvSpPr/>
          <p:nvPr/>
        </p:nvSpPr>
        <p:spPr>
          <a:xfrm>
            <a:off x="7543800" y="3218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7589520" y="3703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Rapports PDF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589520" y="4224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ARCHITECTURE TECHNIQUE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moderne, robuste, déployable partout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20240" cy="45720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65960"/>
            <a:ext cx="45720" cy="5943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 (Plotly)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43200"/>
            <a:ext cx="45720" cy="5943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529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 / 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20440"/>
            <a:ext cx="45720" cy="5943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301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Obsidian Gold Theme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87168" y="132588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87168" y="1325880"/>
            <a:ext cx="1920240" cy="457200"/>
          </a:xfrm>
          <a:prstGeom prst="rect">
            <a:avLst/>
          </a:prstGeom>
          <a:solidFill>
            <a:srgbClr val="5A5650"/>
          </a:solidFill>
          <a:ln/>
        </p:spPr>
      </p:sp>
      <p:sp>
        <p:nvSpPr>
          <p:cNvPr id="19" name="Text 17"/>
          <p:cNvSpPr/>
          <p:nvPr/>
        </p:nvSpPr>
        <p:spPr>
          <a:xfrm>
            <a:off x="253288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24328" y="196596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4328" y="1965960"/>
            <a:ext cx="45720" cy="594360"/>
          </a:xfrm>
          <a:prstGeom prst="rect">
            <a:avLst/>
          </a:prstGeom>
          <a:solidFill>
            <a:srgbClr val="5A5650"/>
          </a:solidFill>
          <a:ln/>
        </p:spPr>
      </p:sp>
      <p:sp>
        <p:nvSpPr>
          <p:cNvPr id="22" name="Text 20"/>
          <p:cNvSpPr/>
          <p:nvPr/>
        </p:nvSpPr>
        <p:spPr>
          <a:xfrm>
            <a:off x="2715768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24328" y="274320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2743200"/>
            <a:ext cx="45720" cy="594360"/>
          </a:xfrm>
          <a:prstGeom prst="rect">
            <a:avLst/>
          </a:prstGeom>
          <a:solidFill>
            <a:srgbClr val="5A5650"/>
          </a:solidFill>
          <a:ln/>
        </p:spPr>
      </p:sp>
      <p:sp>
        <p:nvSpPr>
          <p:cNvPr id="25" name="Text 23"/>
          <p:cNvSpPr/>
          <p:nvPr/>
        </p:nvSpPr>
        <p:spPr>
          <a:xfrm>
            <a:off x="2715768" y="28529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+ Gunicorn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24328" y="352044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4328" y="3520440"/>
            <a:ext cx="45720" cy="594360"/>
          </a:xfrm>
          <a:prstGeom prst="rect">
            <a:avLst/>
          </a:prstGeom>
          <a:solidFill>
            <a:srgbClr val="5A5650"/>
          </a:solidFill>
          <a:ln/>
        </p:spPr>
      </p:sp>
      <p:sp>
        <p:nvSpPr>
          <p:cNvPr id="28" name="Text 26"/>
          <p:cNvSpPr/>
          <p:nvPr/>
        </p:nvSpPr>
        <p:spPr>
          <a:xfrm>
            <a:off x="2715768" y="36301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 Callbacks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132588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8576" y="1325880"/>
            <a:ext cx="1920240" cy="457200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31" name="Text 29"/>
          <p:cNvSpPr/>
          <p:nvPr/>
        </p:nvSpPr>
        <p:spPr>
          <a:xfrm>
            <a:off x="4654296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45736" y="196596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45736" y="1965960"/>
            <a:ext cx="45720" cy="594360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SQLAlchemy ORM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45736" y="274320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45736" y="2743200"/>
            <a:ext cx="45720" cy="594360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37" name="Text 35"/>
          <p:cNvSpPr/>
          <p:nvPr/>
        </p:nvSpPr>
        <p:spPr>
          <a:xfrm>
            <a:off x="4837176" y="28529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/ PostgreSQL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45736" y="352044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45736" y="3520440"/>
            <a:ext cx="45720" cy="594360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40" name="Text 38"/>
          <p:cNvSpPr/>
          <p:nvPr/>
        </p:nvSpPr>
        <p:spPr>
          <a:xfrm>
            <a:off x="4837176" y="36301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ReportLab PDF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29984" y="132588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9984" y="1325880"/>
            <a:ext cx="1920240" cy="457200"/>
          </a:xfrm>
          <a:prstGeom prst="rect">
            <a:avLst/>
          </a:prstGeom>
          <a:solidFill>
            <a:srgbClr val="9B5E2A"/>
          </a:solidFill>
          <a:ln/>
        </p:spPr>
      </p:sp>
      <p:sp>
        <p:nvSpPr>
          <p:cNvPr id="43" name="Text 41"/>
          <p:cNvSpPr/>
          <p:nvPr/>
        </p:nvSpPr>
        <p:spPr>
          <a:xfrm>
            <a:off x="6775704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PAIEMENT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67144" y="196596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67144" y="1965960"/>
            <a:ext cx="45720" cy="594360"/>
          </a:xfrm>
          <a:prstGeom prst="rect">
            <a:avLst/>
          </a:prstGeom>
          <a:solidFill>
            <a:srgbClr val="9B5E2A"/>
          </a:solidFill>
          <a:ln/>
        </p:spPr>
      </p:sp>
      <p:sp>
        <p:nvSpPr>
          <p:cNvPr id="46" name="Text 44"/>
          <p:cNvSpPr/>
          <p:nvPr/>
        </p:nvSpPr>
        <p:spPr>
          <a:xfrm>
            <a:off x="6958584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Paytech API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67144" y="274320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7144" y="2743200"/>
            <a:ext cx="45720" cy="594360"/>
          </a:xfrm>
          <a:prstGeom prst="rect">
            <a:avLst/>
          </a:prstGeom>
          <a:solidFill>
            <a:srgbClr val="9B5E2A"/>
          </a:solidFill>
          <a:ln/>
        </p:spPr>
      </p:sp>
      <p:sp>
        <p:nvSpPr>
          <p:cNvPr id="49" name="Text 47"/>
          <p:cNvSpPr/>
          <p:nvPr/>
        </p:nvSpPr>
        <p:spPr>
          <a:xfrm>
            <a:off x="6958584" y="28529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 · Orange Money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67144" y="3520440"/>
            <a:ext cx="1645920" cy="594360"/>
          </a:xfrm>
          <a:prstGeom prst="rect">
            <a:avLst/>
          </a:prstGeom>
          <a:solidFill>
            <a:srgbClr val="EDE7D9"/>
          </a:solidFill>
          <a:ln w="12700">
            <a:solidFill>
              <a:srgbClr val="EDE7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67144" y="3520440"/>
            <a:ext cx="45720" cy="594360"/>
          </a:xfrm>
          <a:prstGeom prst="rect">
            <a:avLst/>
          </a:prstGeom>
          <a:solidFill>
            <a:srgbClr val="9B5E2A"/>
          </a:solidFill>
          <a:ln/>
        </p:spPr>
      </p:sp>
      <p:sp>
        <p:nvSpPr>
          <p:cNvPr id="52" name="Text 50"/>
          <p:cNvSpPr/>
          <p:nvPr/>
        </p:nvSpPr>
        <p:spPr>
          <a:xfrm>
            <a:off x="6958584" y="36301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Webhook sécurisé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1712"/>
          </a:solidFill>
          <a:ln w="12700">
            <a:solidFill>
              <a:srgbClr val="1A171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☁  Déployé sur Railway.app · URL publique · HTTPS · Redémarrage automatique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PAIEMENTS EN LIGNE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Intégration Paytech — Sénégal &amp; UEMOA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61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clique Payer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0512" y="1664208"/>
            <a:ext cx="292608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234440"/>
            <a:ext cx="914400" cy="914400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261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 Pro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crée facture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02152" y="1664208"/>
            <a:ext cx="292608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234440"/>
            <a:ext cx="914400" cy="914400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261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062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Paytech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93792" y="1664208"/>
            <a:ext cx="292608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7880" y="1234440"/>
            <a:ext cx="914400" cy="914400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261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9788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 / OM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/ Carte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85432" y="1664208"/>
            <a:ext cx="292608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0" y="1234440"/>
            <a:ext cx="914400" cy="914400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261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895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Confirmation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automatique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MOYENS ACCEPTÉS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192024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673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🌊  Wave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Sénégal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3657600"/>
            <a:ext cx="192024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673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🟠  Orange Money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 · CI · ML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657600"/>
            <a:ext cx="192024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7673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🔵  Free Money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Sénégal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657600"/>
            <a:ext cx="1920240" cy="91440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7673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💳  Carte bancaire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Visa · MC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CHIFFRES CLÉS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7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 Pro en quelques chiffres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92024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89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fonctionnels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280160"/>
            <a:ext cx="1920240" cy="54864"/>
          </a:xfrm>
          <a:prstGeom prst="rect">
            <a:avLst/>
          </a:prstGeom>
          <a:solidFill>
            <a:srgbClr val="5A5650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A56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578608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Rôles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280160"/>
            <a:ext cx="1920240" cy="54864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15" name="Text 13"/>
          <p:cNvSpPr/>
          <p:nvPr/>
        </p:nvSpPr>
        <p:spPr>
          <a:xfrm>
            <a:off x="4654296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D6A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60+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700016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Etudiants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1280160"/>
            <a:ext cx="1920240" cy="54864"/>
          </a:xfrm>
          <a:prstGeom prst="rect">
            <a:avLst/>
          </a:prstGeom>
          <a:solidFill>
            <a:srgbClr val="9B5E2A"/>
          </a:solidFill>
          <a:ln/>
        </p:spPr>
      </p:sp>
      <p:sp>
        <p:nvSpPr>
          <p:cNvPr id="19" name="Text 17"/>
          <p:cNvSpPr/>
          <p:nvPr/>
        </p:nvSpPr>
        <p:spPr>
          <a:xfrm>
            <a:off x="6775704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B5E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6821424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Moyens 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RÉPARTITION DES RÔLES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" cy="5943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67328"/>
            <a:ext cx="841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07008" y="3749040"/>
            <a:ext cx="1261872" cy="594360"/>
          </a:xfrm>
          <a:prstGeom prst="rect">
            <a:avLst/>
          </a:prstGeom>
          <a:solidFill>
            <a:srgbClr val="5A5650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376732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Enseignants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3749040"/>
            <a:ext cx="5047488" cy="594360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3767328"/>
            <a:ext cx="5047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Étudiants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16368" y="3749040"/>
            <a:ext cx="841248" cy="594360"/>
          </a:xfrm>
          <a:prstGeom prst="rect">
            <a:avLst/>
          </a:prstGeom>
          <a:solidFill>
            <a:srgbClr val="9B5E2A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3767328"/>
            <a:ext cx="841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Secrétariat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57616" y="3749040"/>
            <a:ext cx="420624" cy="594360"/>
          </a:xfrm>
          <a:prstGeom prst="rect">
            <a:avLst/>
          </a:prstGeom>
          <a:solidFill>
            <a:srgbClr val="8A807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DÉPLOIEMENT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 ligne en 5 minutes sur Railway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329184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22A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554480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Préparer 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"SGA Pro v1.0"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1920240" cy="329184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22A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2697480" y="2240280"/>
            <a:ext cx="1554480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8803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Créer un repo GitHub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1920240" cy="329184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22A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1554480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Railway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8803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Project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from GitHub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Détection automatique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325880"/>
            <a:ext cx="1920240" cy="3291840"/>
          </a:xfrm>
          <a:prstGeom prst="rect">
            <a:avLst/>
          </a:prstGeom>
          <a:solidFill>
            <a:srgbClr val="2A2520"/>
          </a:solidFill>
          <a:ln w="6350">
            <a:solidFill>
              <a:srgbClr val="B89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1417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22A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6995160" y="2240280"/>
            <a:ext cx="1554480" cy="228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Variables ENV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8803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PAYTECH_API_KEY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PAYTECH_API_SECRET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APP_URL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640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publique automatique · HTTPS · Redémarrage · Volume persistant disponible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A2520"/>
          </a:solidFill>
          <a:ln/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7315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7315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7315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73152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50876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0876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50876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50876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22860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2860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2860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28600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0632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0632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0632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306324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38404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3840480"/>
            <a:ext cx="54864" cy="54864"/>
          </a:xfrm>
          <a:prstGeom prst="ellipse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4572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B8922A">
                    <a:alpha val="12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4000" dirty="0"/>
          </a:p>
        </p:txBody>
      </p:sp>
      <p:sp>
        <p:nvSpPr>
          <p:cNvPr id="25" name="Text 23"/>
          <p:cNvSpPr/>
          <p:nvPr/>
        </p:nvSpPr>
        <p:spPr>
          <a:xfrm>
            <a:off x="566928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B89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 PRO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 PRÊT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SGA Pro transforme
</a:t>
            </a:r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gestion académique
</a:t>
            </a:r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0D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africaine.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7200" y="3017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 23 modules intégrés · 0 papier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 Paiements Wave &amp; Orange Money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840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 Déployé · Accessible · Sécurisé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251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 Évolutif et maintenable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2560320" cy="38404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36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MERCI · QUESTIONS 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SGA Pro — Système de Gestion Académique</dc:title>
  <dc:subject>PptxGenJS Presentation</dc:subject>
  <dc:creator>SGA Pro</dc:creator>
  <cp:lastModifiedBy>SGA Pro</cp:lastModifiedBy>
  <cp:revision>1</cp:revision>
  <dcterms:created xsi:type="dcterms:W3CDTF">2026-03-06T22:38:24Z</dcterms:created>
  <dcterms:modified xsi:type="dcterms:W3CDTF">2026-03-06T22:38:24Z</dcterms:modified>
</cp:coreProperties>
</file>